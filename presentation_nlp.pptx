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7" r:id="rId3"/>
    <p:sldId id="291" r:id="rId5"/>
    <p:sldId id="279" r:id="rId6"/>
    <p:sldId id="300" r:id="rId7"/>
    <p:sldId id="292" r:id="rId8"/>
    <p:sldId id="293" r:id="rId9"/>
    <p:sldId id="294" r:id="rId10"/>
    <p:sldId id="295" r:id="rId11"/>
    <p:sldId id="296" r:id="rId12"/>
    <p:sldId id="297" r:id="rId13"/>
    <p:sldId id="298" r:id="rId14"/>
    <p:sldId id="299" r:id="rId15"/>
    <p:sldId id="28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9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0B0F"/>
    <a:srgbClr val="151213"/>
    <a:srgbClr val="151112"/>
    <a:srgbClr val="100F14"/>
    <a:srgbClr val="64483C"/>
    <a:srgbClr val="FFFFFF"/>
    <a:srgbClr val="214E75"/>
    <a:srgbClr val="334155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9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>
              <a:solidFill>
                <a:srgbClr val="94A3B8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82" name="Google Shape;82;p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0" name="Google Shape;90;p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104" name="Google Shape;104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104" name="Google Shape;104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104" name="Google Shape;104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104" name="Google Shape;104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104" name="Google Shape;104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104" name="Google Shape;104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104" name="Google Shape;104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104" name="Google Shape;104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104" name="Google Shape;104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104" name="Google Shape;104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2" name="Google Shape;262;p1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7090" cy="6858000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 txBox="1"/>
          <p:nvPr/>
        </p:nvSpPr>
        <p:spPr>
          <a:xfrm>
            <a:off x="762000" y="415290"/>
            <a:ext cx="10160635" cy="72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Project Context and Objectives</a:t>
            </a:r>
            <a:endParaRPr lang="en-US" sz="3900" b="0" i="0" u="none" strike="noStrike" cap="none">
              <a:solidFill>
                <a:schemeClr val="tx1"/>
              </a:solidFill>
              <a:latin typeface="Urbanist SemiBold" panose="020B0A04040200000203"/>
              <a:ea typeface="Urbanist SemiBold" panose="020B0A04040200000203"/>
              <a:cs typeface="Urbanist SemiBold" panose="020B0A04040200000203"/>
              <a:sym typeface="Urbanist SemiBold" panose="020B0A04040200000203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762000" y="2112645"/>
            <a:ext cx="4400550" cy="374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1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Context:</a:t>
            </a:r>
            <a:r>
              <a:rPr lang="en-US" altLang="en-US" sz="165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The rapid spread of misinformation requires automated, scalable solutions to flag deceptive content.</a:t>
            </a:r>
            <a:endParaRPr lang="en-US" altLang="en-US" sz="165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Objective:</a:t>
            </a:r>
            <a:r>
              <a:rPr lang="en-US" altLang="en-US" sz="1650" b="1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Build an NLP machine learning pipeline to classify news headlines as either Real (1) or Fake (0).</a:t>
            </a:r>
            <a:endParaRPr lang="en-US" altLang="en-US" sz="1650" b="1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8995" y="2112645"/>
            <a:ext cx="5200650" cy="30689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/>
          <p:nvPr/>
        </p:nvSpPr>
        <p:spPr>
          <a:xfrm>
            <a:off x="571500" y="284410"/>
            <a:ext cx="11601450" cy="72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Dataset Overview</a:t>
            </a:r>
            <a:endParaRPr lang="en-US" sz="3900" b="0" i="0" u="none" strike="noStrike" cap="none">
              <a:solidFill>
                <a:schemeClr val="tx1"/>
              </a:solidFill>
              <a:latin typeface="Urbanist SemiBold" panose="020B0A04040200000203"/>
              <a:ea typeface="Urbanist SemiBold" panose="020B0A04040200000203"/>
              <a:cs typeface="Urbanist SemiBold" panose="020B0A04040200000203"/>
              <a:sym typeface="Urbanist SemiBold" panose="020B0A04040200000203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1416685"/>
            <a:ext cx="4664075" cy="289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1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Training Set:</a:t>
            </a:r>
            <a:endParaRPr lang="en-US" altLang="en-US" sz="1650" b="1" i="0" u="none" strike="noStrike" cap="none">
              <a:solidFill>
                <a:srgbClr val="0070C0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Before dropping duplicates: 34,152 headlines with an almost perfect 51/49 balanced class distribution.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After dropping duplicates: 32,206 headlines remain with an almost 50/50 balanced class distribution.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9870" y="2527935"/>
            <a:ext cx="4819650" cy="9715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625" y="4381500"/>
            <a:ext cx="4552950" cy="113347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Google Shape;112;p15"/>
          <p:cNvSpPr txBox="1"/>
          <p:nvPr/>
        </p:nvSpPr>
        <p:spPr>
          <a:xfrm>
            <a:off x="6579870" y="1416685"/>
            <a:ext cx="4819650" cy="9544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1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Testing Set: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9,984 unlabeled headlines containing a dummy label (2) to be overwritten.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7" name="Google Shape;112;p15"/>
          <p:cNvSpPr txBox="1"/>
          <p:nvPr/>
        </p:nvSpPr>
        <p:spPr>
          <a:xfrm>
            <a:off x="683260" y="5676900"/>
            <a:ext cx="9573260" cy="512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indent="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Data is read with tab separator to separate the two columns correctly.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682625" y="6209030"/>
            <a:ext cx="9573260" cy="3371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p>
            <a:pPr>
              <a:lnSpc>
                <a:spcPct val="100000"/>
              </a:lnSpc>
            </a:pPr>
            <a:r>
              <a:rPr sz="16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train_df</a:t>
            </a:r>
            <a:r>
              <a:rPr sz="16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6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pd</a:t>
            </a:r>
            <a:r>
              <a:rPr sz="16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.</a:t>
            </a:r>
            <a:r>
              <a:rPr sz="16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read_csv</a:t>
            </a:r>
            <a:r>
              <a:rPr sz="16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(train_path, </a:t>
            </a:r>
            <a:r>
              <a:rPr sz="16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sep</a:t>
            </a:r>
            <a:r>
              <a:rPr sz="16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6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</a:t>
            </a:r>
            <a:r>
              <a:rPr sz="16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\t</a:t>
            </a:r>
            <a:r>
              <a:rPr sz="16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</a:t>
            </a:r>
            <a:r>
              <a:rPr sz="16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6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header</a:t>
            </a:r>
            <a:r>
              <a:rPr sz="16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6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None</a:t>
            </a:r>
            <a:r>
              <a:rPr sz="16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6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names</a:t>
            </a:r>
            <a:r>
              <a:rPr sz="16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6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[</a:t>
            </a:r>
            <a:r>
              <a:rPr sz="16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'label'</a:t>
            </a:r>
            <a:r>
              <a:rPr sz="16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6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'headline'</a:t>
            </a:r>
            <a:r>
              <a:rPr sz="16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])</a:t>
            </a:r>
            <a:endParaRPr sz="16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/>
          <p:nvPr/>
        </p:nvSpPr>
        <p:spPr>
          <a:xfrm>
            <a:off x="571500" y="284410"/>
            <a:ext cx="11601450" cy="72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39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Pipeline Workflow &amp; Architecture</a:t>
            </a:r>
            <a:endParaRPr lang="en-US" altLang="en-US" sz="3900" b="0" i="0" u="none" strike="noStrike" cap="none">
              <a:solidFill>
                <a:schemeClr val="tx1"/>
              </a:solidFill>
              <a:latin typeface="Urbanist SemiBold" panose="020B0A04040200000203"/>
              <a:ea typeface="Urbanist SemiBold" panose="020B0A04040200000203"/>
              <a:cs typeface="Urbanist SemiBold" panose="020B0A04040200000203"/>
              <a:sym typeface="Urbanist SemiBold" panose="020B0A04040200000203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1743075"/>
            <a:ext cx="3546475" cy="414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Automated Execution: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The pipeline strictly follows linear progression from ingestion to prediction.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Final Retraining: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Before export, the model trains on 100% of the dataset to maximize vocabulary exposure.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1065" y="1558925"/>
            <a:ext cx="6270625" cy="455549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/>
          <p:nvPr/>
        </p:nvSpPr>
        <p:spPr>
          <a:xfrm>
            <a:off x="571500" y="284410"/>
            <a:ext cx="11601450" cy="72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Exploratory Data Analysis</a:t>
            </a:r>
            <a:endParaRPr lang="en-US" sz="3900" b="0" i="0" u="none" strike="noStrike" cap="none">
              <a:solidFill>
                <a:schemeClr val="tx1"/>
              </a:solidFill>
              <a:latin typeface="Urbanist SemiBold" panose="020B0A04040200000203"/>
              <a:ea typeface="Urbanist SemiBold" panose="020B0A04040200000203"/>
              <a:cs typeface="Urbanist SemiBold" panose="020B0A04040200000203"/>
              <a:sym typeface="Urbanist SemiBold" panose="020B0A04040200000203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1696720"/>
            <a:ext cx="4664075" cy="4443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Analyzed headline lengths to find behavioral differences: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742950" marR="0" lvl="1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Real News Average: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64.2 characters.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742950" marR="0" lvl="1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Fake News Average: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83.2 characters.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Insight: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Fake news headlines are structurally longer, likely relying on sensationalism and descriptive adjectives to grab attention.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  <p:pic>
        <p:nvPicPr>
          <p:cNvPr id="1" name="Picture 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0765" y="1696720"/>
            <a:ext cx="5078095" cy="34963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/>
          <p:nvPr/>
        </p:nvSpPr>
        <p:spPr>
          <a:xfrm>
            <a:off x="571500" y="284410"/>
            <a:ext cx="11601450" cy="72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Text Pre-processing</a:t>
            </a:r>
            <a:endParaRPr lang="en-US" sz="3900" b="0" i="0" u="none" strike="noStrike" cap="none">
              <a:solidFill>
                <a:schemeClr val="tx1"/>
              </a:solidFill>
              <a:latin typeface="Urbanist SemiBold" panose="020B0A04040200000203"/>
              <a:ea typeface="Urbanist SemiBold" panose="020B0A04040200000203"/>
              <a:cs typeface="Urbanist SemiBold" panose="020B0A04040200000203"/>
              <a:sym typeface="Urbanist SemiBold" panose="020B0A04040200000203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1469390"/>
            <a:ext cx="3832225" cy="3138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Regex Filtering: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Replaced tabs, stripped non-alphanumeric characters, and squashed multiple spaces.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Stop Words: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Removed structural noise (e.g., "the", "and") using NLTK corpora.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3" name="Text Box 2"/>
          <p:cNvSpPr txBox="1"/>
          <p:nvPr/>
        </p:nvSpPr>
        <p:spPr>
          <a:xfrm>
            <a:off x="4718050" y="4904105"/>
            <a:ext cx="4308475" cy="1473200"/>
          </a:xfrm>
          <a:prstGeom prst="rect">
            <a:avLst/>
          </a:prstGeom>
          <a:solidFill>
            <a:schemeClr val="tx1"/>
          </a:solidFill>
        </p:spPr>
        <p:txBody>
          <a:bodyPr>
            <a:noAutofit/>
          </a:bodyPr>
          <a:p>
            <a:pPr>
              <a:lnSpc>
                <a:spcPct val="100000"/>
              </a:lnSpc>
            </a:pP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def</a:t>
            </a:r>
            <a:r>
              <a:rPr lang="en-US"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 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get_wordnet_pos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word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):</a:t>
            </a:r>
            <a:endParaRPr sz="1200" b="0">
              <a:solidFill>
                <a:srgbClr val="A5D6FF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tag</a:t>
            </a:r>
            <a:r>
              <a:rPr lang="en-US"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 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lang="en-US"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 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pos_tag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([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word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])[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0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][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1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][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0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].upper()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tag_dict</a:t>
            </a:r>
            <a:r>
              <a:rPr lang="en-US"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 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 {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"J"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: wordnet.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ADJ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           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"N"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: wordnet.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NOUN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           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"V"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: wordnet.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VERB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           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"R"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: wordnet.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ADV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}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return</a:t>
            </a:r>
            <a:r>
              <a:rPr lang="en-US"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 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tag_dict.get(tag, wordnet.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NOUN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4718050" y="1621155"/>
            <a:ext cx="7153275" cy="2899410"/>
          </a:xfrm>
          <a:prstGeom prst="rect">
            <a:avLst/>
          </a:prstGeom>
          <a:solidFill>
            <a:schemeClr val="tx1"/>
          </a:solidFill>
        </p:spPr>
        <p:txBody>
          <a:bodyPr>
            <a:noAutofit/>
          </a:bodyPr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8B949E"/>
                </a:solidFill>
                <a:latin typeface="Consolas" panose="020B0609020204030204"/>
                <a:ea typeface="Consolas" panose="020B0609020204030204"/>
              </a:rPr>
              <a:t># 1. Convert to lowercase</a:t>
            </a:r>
            <a:endParaRPr sz="1200" b="0">
              <a:solidFill>
                <a:srgbClr val="8B949E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str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).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lower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8B949E"/>
                </a:solidFill>
                <a:latin typeface="Consolas" panose="020B0609020204030204"/>
                <a:ea typeface="Consolas" panose="020B0609020204030204"/>
              </a:rPr>
              <a:t># 2. Replace tabs and breaklines with space</a:t>
            </a:r>
            <a:endParaRPr sz="1200" b="0">
              <a:solidFill>
                <a:srgbClr val="8B949E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re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.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sub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r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"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[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\t\n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]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"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" "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8B949E"/>
                </a:solidFill>
                <a:latin typeface="Consolas" panose="020B0609020204030204"/>
                <a:ea typeface="Consolas" panose="020B0609020204030204"/>
              </a:rPr>
              <a:t># 3. Remove punctuation and non-alphanumeric characters</a:t>
            </a:r>
            <a:endParaRPr sz="1200" b="0">
              <a:solidFill>
                <a:srgbClr val="8B949E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re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.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sub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r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"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[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^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a-zA-Z0-9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\s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]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"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" "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8B949E"/>
                </a:solidFill>
                <a:latin typeface="Consolas" panose="020B0609020204030204"/>
                <a:ea typeface="Consolas" panose="020B0609020204030204"/>
              </a:rPr>
              <a:t># 4. Remove numbers</a:t>
            </a:r>
            <a:endParaRPr sz="1200" b="0">
              <a:solidFill>
                <a:srgbClr val="8B949E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re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.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sub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r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\d+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 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8B949E"/>
                </a:solidFill>
                <a:latin typeface="Consolas" panose="020B0609020204030204"/>
                <a:ea typeface="Consolas" panose="020B0609020204030204"/>
              </a:rPr>
              <a:t># 5. Remove standalone single characters (e.g. 's' after removing apostrophe)</a:t>
            </a:r>
            <a:endParaRPr sz="1200" b="0">
              <a:solidFill>
                <a:srgbClr val="8B949E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re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.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sub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r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\s+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[a-zA-Z]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\s+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 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re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.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sub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r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^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[a-zA-Z]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\s+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 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8B949E"/>
                </a:solidFill>
                <a:latin typeface="Consolas" panose="020B0609020204030204"/>
                <a:ea typeface="Consolas" panose="020B0609020204030204"/>
              </a:rPr>
              <a:t># 6. Substitute multiple spaces with a single space and strip edges</a:t>
            </a:r>
            <a:endParaRPr sz="1200" b="0">
              <a:solidFill>
                <a:srgbClr val="8B949E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re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.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sub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r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\s+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 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).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strip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8B949E"/>
                </a:solidFill>
                <a:latin typeface="Consolas" panose="020B0609020204030204"/>
                <a:ea typeface="Consolas" panose="020B0609020204030204"/>
              </a:rPr>
              <a:t># 7. Tokenize, remove stopwords, and Lemmatize</a:t>
            </a:r>
            <a:endParaRPr sz="1200" b="0">
              <a:solidFill>
                <a:srgbClr val="8B949E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words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.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split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5" name="Google Shape;112;p15"/>
          <p:cNvSpPr txBox="1"/>
          <p:nvPr/>
        </p:nvSpPr>
        <p:spPr>
          <a:xfrm>
            <a:off x="571500" y="4904105"/>
            <a:ext cx="3832225" cy="14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POS Tagging: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Extracted grammatical context to distinguish nouns from verbs for the lemmatizer.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3" grpId="0" animBg="1"/>
      <p:bldP spid="5" grpId="1"/>
      <p:bldP spid="3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/>
          <p:nvPr/>
        </p:nvSpPr>
        <p:spPr>
          <a:xfrm>
            <a:off x="571500" y="284410"/>
            <a:ext cx="11601450" cy="72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Benchmarking Models</a:t>
            </a:r>
            <a:endParaRPr lang="en-US" sz="3900" b="0" i="0" u="none" strike="noStrike" cap="none">
              <a:solidFill>
                <a:schemeClr val="tx1"/>
              </a:solidFill>
              <a:latin typeface="Urbanist SemiBold" panose="020B0A04040200000203"/>
              <a:ea typeface="Urbanist SemiBold" panose="020B0A04040200000203"/>
              <a:cs typeface="Urbanist SemiBold" panose="020B0A04040200000203"/>
              <a:sym typeface="Urbanist SemiBold" panose="020B0A04040200000203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1469390"/>
            <a:ext cx="4664075" cy="4670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The models rely exclusively on lexical features extracted from the text. They were evaluated on an 80/20 train-validation split using 5000 TF-IDF features (most significant terms):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Unigrams &amp; Bigrams: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Evaluate single words and two-word pairings (e.g., "election" vs. "election fraud").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TF-IDF Weights: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Words frequent in one headline but rare overall receive higher mathematical weights, filtering out common noise.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  <p:pic>
        <p:nvPicPr>
          <p:cNvPr id="1" name="Picture 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5640" y="1869440"/>
            <a:ext cx="5598160" cy="32588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/>
          <p:nvPr/>
        </p:nvSpPr>
        <p:spPr>
          <a:xfrm>
            <a:off x="571500" y="284410"/>
            <a:ext cx="11601450" cy="72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39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Hyperparameter Tuning</a:t>
            </a:r>
            <a:endParaRPr lang="en-US" altLang="en-US" sz="3900" b="0" i="0" u="none" strike="noStrike" cap="none">
              <a:solidFill>
                <a:schemeClr val="tx1"/>
              </a:solidFill>
              <a:latin typeface="Urbanist SemiBold" panose="020B0A04040200000203"/>
              <a:ea typeface="Urbanist SemiBold" panose="020B0A04040200000203"/>
              <a:cs typeface="Urbanist SemiBold" panose="020B0A04040200000203"/>
              <a:sym typeface="Urbanist SemiBold" panose="020B0A04040200000203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1469390"/>
            <a:ext cx="5525135" cy="5278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Built a Scikit-Learn Pipeline combining the TF-IDF Vectorizer and the Classifier.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Used GridSearchCV with 3-fold cross-validation across 12 unique parameter combinations (total: 36 model fits).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Best Parameters Discovered:</a:t>
            </a:r>
            <a:endParaRPr lang="en-US" altLang="en-US" sz="1650" b="0" i="0" u="none" strike="noStrike" cap="none">
              <a:solidFill>
                <a:srgbClr val="0070C0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742950" marR="0" lvl="1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ngram_range: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(1, 3) (Using unigram, bigram and trigrams).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742950" marR="0" lvl="1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max_df: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0.75 (Ignoring words that appear in over 75% of headlines).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742950" marR="0" lvl="1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C: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10 (lower regularization, weaker penalty on coefficients --&gt; less constrained on how large its weights can be).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3" name="Text Box 2"/>
          <p:cNvSpPr txBox="1"/>
          <p:nvPr/>
        </p:nvSpPr>
        <p:spPr>
          <a:xfrm>
            <a:off x="6245860" y="2019300"/>
            <a:ext cx="5742940" cy="3299460"/>
          </a:xfrm>
          <a:prstGeom prst="rect">
            <a:avLst/>
          </a:prstGeom>
          <a:solidFill>
            <a:schemeClr val="tx1"/>
          </a:solidFill>
        </p:spPr>
        <p:txBody>
          <a:bodyPr>
            <a:noAutofit/>
          </a:bodyPr>
          <a:p>
            <a:pPr>
              <a:lnSpc>
                <a:spcPct val="100000"/>
              </a:lnSpc>
            </a:pP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def</a:t>
            </a:r>
            <a:r>
              <a:rPr lang="en-US"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 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tune_best_model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X_train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y_train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):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pipeline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Pipeline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([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    (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'tfidf'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TfidfVectorizer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()),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    (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'clf'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LogisticRegression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max_iter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1000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])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param_grid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 {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   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'tfidf__max_df'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: [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0.75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1.0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],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   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'tfidf__ngram_range'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: [(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1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lang="en-US"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2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), (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1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lang="en-US"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3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)],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   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'clf__C'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: [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0.1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1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10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]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}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grid_search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GridSearchCV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(pipeline, param_grid,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cv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3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n_jobs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=-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1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verbose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1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grid_search.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fit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X_train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y_train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 indent="457200">
              <a:lnSpc>
                <a:spcPct val="100000"/>
              </a:lnSpc>
            </a:pPr>
            <a:r>
              <a:rPr lang="en-US" altLang="en-US"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return grid_search.best_estimator_</a:t>
            </a:r>
            <a:endParaRPr lang="en-US" altLang="en-US"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/>
          <p:nvPr/>
        </p:nvSpPr>
        <p:spPr>
          <a:xfrm>
            <a:off x="571500" y="284410"/>
            <a:ext cx="11601450" cy="72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39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Model Evaluation &amp; Results</a:t>
            </a:r>
            <a:endParaRPr lang="en-US" altLang="en-US" sz="3900" b="0" i="0" u="none" strike="noStrike" cap="none">
              <a:solidFill>
                <a:schemeClr val="tx1"/>
              </a:solidFill>
              <a:latin typeface="Urbanist SemiBold" panose="020B0A04040200000203"/>
              <a:ea typeface="Urbanist SemiBold" panose="020B0A04040200000203"/>
              <a:cs typeface="Urbanist SemiBold" panose="020B0A04040200000203"/>
              <a:sym typeface="Urbanist SemiBold" panose="020B0A04040200000203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1469390"/>
            <a:ext cx="4664075" cy="4098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The tuned model achieved exceptional, balanced results across both classes.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742950" marR="0" lvl="1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Overall Accuracy: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~92.5%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742950" marR="0" lvl="1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Precision: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~91.6%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742950" marR="0" lvl="1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Recall: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~93.7%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742950" marR="0" lvl="1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F1-Score: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~92.7%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The model perfectly balances catching fake news without accidentally penalizing real news.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  <p:pic>
        <p:nvPicPr>
          <p:cNvPr id="1" name="Picture 0" descr="confusion_matrix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2780" y="1619885"/>
            <a:ext cx="5347335" cy="3820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/>
          <p:nvPr/>
        </p:nvSpPr>
        <p:spPr>
          <a:xfrm>
            <a:off x="571500" y="284410"/>
            <a:ext cx="11601450" cy="72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39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Challenges &amp; Solutions</a:t>
            </a:r>
            <a:endParaRPr lang="en-US" altLang="en-US" sz="3900" b="0" i="0" u="none" strike="noStrike" cap="none">
              <a:solidFill>
                <a:schemeClr val="tx1"/>
              </a:solidFill>
              <a:latin typeface="Urbanist SemiBold" panose="020B0A04040200000203"/>
              <a:ea typeface="Urbanist SemiBold" panose="020B0A04040200000203"/>
              <a:cs typeface="Urbanist SemiBold" panose="020B0A04040200000203"/>
              <a:sym typeface="Urbanist SemiBold" panose="020B0A04040200000203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1469390"/>
            <a:ext cx="10006965" cy="3438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Challenge 1: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Basic lemmatization treated all words as nouns, losing context.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742950" marR="0" lvl="1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Solution: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Integrated NLTK's pos_tag so the lemmatizer dynamically adapts to adjectives, verbs, and adverbs.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Challenge 2: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Standard "Bag of Words" vectorization loses semantic meaning by treating words in pure isolation (e.g., splitting "not" and "true").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742950" marR="0" lvl="1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Solution: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Expanded the TF-IDF ngram_range to (1, 3) to capture trigrams, allowing the model to learn from crucial two-word phrases.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/>
          <p:nvPr/>
        </p:nvSpPr>
        <p:spPr>
          <a:xfrm>
            <a:off x="571500" y="284410"/>
            <a:ext cx="11601450" cy="72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39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Final Output &amp; Delivery</a:t>
            </a:r>
            <a:endParaRPr lang="en-US" altLang="en-US" sz="3900" b="0" i="0" u="none" strike="noStrike" cap="none">
              <a:solidFill>
                <a:schemeClr val="tx1"/>
              </a:solidFill>
              <a:latin typeface="Urbanist SemiBold" panose="020B0A04040200000203"/>
              <a:ea typeface="Urbanist SemiBold" panose="020B0A04040200000203"/>
              <a:cs typeface="Urbanist SemiBold" panose="020B0A04040200000203"/>
              <a:sym typeface="Urbanist SemiBold" panose="020B0A04040200000203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1469390"/>
            <a:ext cx="10691495" cy="2026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Retrained the finalized, tuned pipeline on 100% of the training dataset to maximize vocabulary exposure.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Processed the testing_data.csv through the exact same NLP cleaning pipeline.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Successfully predicted the labels and exported predicted_testing_data.csv while strictly preserving the original tab-separated format without headers.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0310" y="3623310"/>
            <a:ext cx="7372350" cy="227647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/>
          <p:nvPr/>
        </p:nvSpPr>
        <p:spPr>
          <a:xfrm>
            <a:off x="571500" y="284410"/>
            <a:ext cx="11601450" cy="72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39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Conclusion</a:t>
            </a:r>
            <a:endParaRPr lang="en-US" altLang="en-US" sz="3900" b="0" i="0" u="none" strike="noStrike" cap="none">
              <a:solidFill>
                <a:schemeClr val="tx1"/>
              </a:solidFill>
              <a:latin typeface="Urbanist SemiBold" panose="020B0A04040200000203"/>
              <a:ea typeface="Urbanist SemiBold" panose="020B0A04040200000203"/>
              <a:cs typeface="Urbanist SemiBold" panose="020B0A04040200000203"/>
              <a:sym typeface="Urbanist SemiBold" panose="020B0A04040200000203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1469390"/>
            <a:ext cx="10006965" cy="290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Preprocessing Matters: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NLP preprocessing (like POS tagging and regex cleaning) has an important, measurable impact on model accuracy.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Efficiency of Baselines: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Linear models combined with TF-IDF remain highly powerful and fast for semantic text classification.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Strategic Progression: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Establishing strong, lightweight baseline models is a crucial first step before considering more computationally expensive approaches.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4"/>
          <p:cNvSpPr txBox="1"/>
          <p:nvPr/>
        </p:nvSpPr>
        <p:spPr>
          <a:xfrm>
            <a:off x="295275" y="3034030"/>
            <a:ext cx="11601450" cy="789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Thank </a:t>
            </a:r>
            <a:r>
              <a:rPr lang="en-US" sz="4800" b="1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You !</a:t>
            </a:r>
            <a:endParaRPr lang="en-US" sz="4800" b="1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5333</Words>
  <Application>WPS Presentation</Application>
  <PresentationFormat>Widescreen</PresentationFormat>
  <Paragraphs>152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6" baseType="lpstr">
      <vt:lpstr>Arial</vt:lpstr>
      <vt:lpstr>SimSun</vt:lpstr>
      <vt:lpstr>Wingdings</vt:lpstr>
      <vt:lpstr>Wingdings</vt:lpstr>
      <vt:lpstr>Urbanist</vt:lpstr>
      <vt:lpstr>Urbanist SemiBold</vt:lpstr>
      <vt:lpstr>Yu Gothic UI Semibold</vt:lpstr>
      <vt:lpstr>Consolas</vt:lpstr>
      <vt:lpstr>Microsoft YaHei</vt:lpstr>
      <vt:lpstr>Arial Unicode MS</vt:lpstr>
      <vt:lpstr>Calibri</vt:lpstr>
      <vt:lpstr>Canva Sans Bold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Blank Presentation</dc:title>
  <dc:creator/>
  <cp:lastModifiedBy>Hello World</cp:lastModifiedBy>
  <cp:revision>316</cp:revision>
  <dcterms:created xsi:type="dcterms:W3CDTF">2026-07-09T09:40:00Z</dcterms:created>
  <dcterms:modified xsi:type="dcterms:W3CDTF">2026-07-28T15:32:44Z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1033-12.1.0.27458</vt:lpwstr>
  </property>
  <property fmtid="{D5CDD505-2E9C-101B-9397-08002B2CF9AE}" pid="3" name="ICV">
    <vt:lpwstr>E91EFF80F6454AA490D8DEA9B3765BD9_13</vt:lpwstr>
  </property>
</Properties>
</file>