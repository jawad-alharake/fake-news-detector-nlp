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7" r:id="rId3"/>
    <p:sldId id="291" r:id="rId5"/>
    <p:sldId id="279" r:id="rId6"/>
    <p:sldId id="300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28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0B0F"/>
    <a:srgbClr val="151213"/>
    <a:srgbClr val="151112"/>
    <a:srgbClr val="100F14"/>
    <a:srgbClr val="64483C"/>
    <a:srgbClr val="FFFFFF"/>
    <a:srgbClr val="214E75"/>
    <a:srgbClr val="334155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9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>
              <a:solidFill>
                <a:srgbClr val="94A3B8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104" name="Google Shape;104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104" name="Google Shape;104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104" name="Google Shape;104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104" name="Google Shape;104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104" name="Google Shape;104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104" name="Google Shape;104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104" name="Google Shape;104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104" name="Google Shape;104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104" name="Google Shape;104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104" name="Google Shape;104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2" name="Google Shape;262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77090" cy="68580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762000" y="415290"/>
            <a:ext cx="10160635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chemeClr val="tx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Project Context and Objectives</a:t>
            </a:r>
            <a:endParaRPr lang="en-US" sz="3900" b="0" i="0" u="none" strike="noStrike" cap="none">
              <a:solidFill>
                <a:schemeClr val="tx1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62000" y="2112645"/>
            <a:ext cx="4400550" cy="374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1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Context:</a:t>
            </a:r>
            <a:r>
              <a:rPr lang="en-US" altLang="en-US" sz="165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The rapid spread of misinformation requires automated, scalable solutions to flag deceptive content.</a:t>
            </a:r>
            <a:endParaRPr lang="en-US" altLang="en-US" sz="165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Objective:</a:t>
            </a:r>
            <a:r>
              <a:rPr lang="en-US" altLang="en-US" sz="1650" b="1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Build an NLP machine learning pipeline to classify news headlines as either Real (1) or Fake (0).</a:t>
            </a:r>
            <a:endParaRPr lang="en-US" altLang="en-US" sz="1650" b="1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8995" y="2112645"/>
            <a:ext cx="5200650" cy="3068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571500" y="284410"/>
            <a:ext cx="11601450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chemeClr val="tx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Dataset Overview</a:t>
            </a:r>
            <a:endParaRPr lang="en-US" sz="3900" b="0" i="0" u="none" strike="noStrike" cap="none">
              <a:solidFill>
                <a:schemeClr val="tx1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1416685"/>
            <a:ext cx="4664075" cy="289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1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Training Set:</a:t>
            </a:r>
            <a:endParaRPr lang="en-US" altLang="en-US" sz="1650" b="1" i="0" u="none" strike="noStrike" cap="none">
              <a:solidFill>
                <a:srgbClr val="0070C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Before dropping duplicates: 34,152 headlines with an almost perfect 51/49 balanced class distribution.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After dropping duplicates: 32,206 headlines remain with an almost 50/50 balanced class distribution.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9870" y="2527935"/>
            <a:ext cx="4819650" cy="9715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25" y="4381500"/>
            <a:ext cx="4552950" cy="11334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Google Shape;112;p15"/>
          <p:cNvSpPr txBox="1"/>
          <p:nvPr/>
        </p:nvSpPr>
        <p:spPr>
          <a:xfrm>
            <a:off x="6579870" y="1416685"/>
            <a:ext cx="4819650" cy="954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1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Testing Set:</a:t>
            </a: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9,984 unlabeled headlines containing a dummy label (2) to be overwritten.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7" name="Google Shape;112;p15"/>
          <p:cNvSpPr txBox="1"/>
          <p:nvPr/>
        </p:nvSpPr>
        <p:spPr>
          <a:xfrm>
            <a:off x="683260" y="5676900"/>
            <a:ext cx="9573260" cy="512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Data is read with tab separator to separate the two columns correctly.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82625" y="6209030"/>
            <a:ext cx="9573260" cy="27559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train_df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pd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sz="1200" b="0">
                <a:solidFill>
                  <a:srgbClr val="D2A8FF"/>
                </a:solidFill>
                <a:latin typeface="Consolas" panose="020B0609020204030204"/>
                <a:ea typeface="Consolas" panose="020B0609020204030204"/>
              </a:rPr>
              <a:t>read_csv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(train_path, 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sep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'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\t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'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header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None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names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'label'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'headline'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])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571500" y="284410"/>
            <a:ext cx="11601450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900" b="0" i="0" u="none" strike="noStrike" cap="none">
                <a:solidFill>
                  <a:schemeClr val="tx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Pipeline Workflow &amp; Architecture</a:t>
            </a:r>
            <a:endParaRPr lang="en-US" altLang="en-US" sz="3900" b="0" i="0" u="none" strike="noStrike" cap="none">
              <a:solidFill>
                <a:schemeClr val="tx1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1743075"/>
            <a:ext cx="3546475" cy="414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Automated Execution:</a:t>
            </a: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The pipeline strictly follows linear progression from ingestion to prediction.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Final Retraining:</a:t>
            </a: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Before export, the model trains on 100% of the dataset to maximize vocabulary exposure.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1065" y="1558925"/>
            <a:ext cx="6270625" cy="4555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571500" y="284410"/>
            <a:ext cx="11601450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chemeClr val="tx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Exploratory Data Analysis</a:t>
            </a:r>
            <a:endParaRPr lang="en-US" sz="3900" b="0" i="0" u="none" strike="noStrike" cap="none">
              <a:solidFill>
                <a:schemeClr val="tx1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1696720"/>
            <a:ext cx="4664075" cy="349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Analyzed headline lengths to find behavioral differences: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742950" marR="0" lvl="1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Real News Average:</a:t>
            </a: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64.2 characters.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742950" marR="0" lvl="1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Fake News Average:</a:t>
            </a: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83.2 characters.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Insight:</a:t>
            </a: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Fake news headlines are structurally longer, likely relying on sensationalism and descriptive adjectives to grab attention.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1" name="Pictur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0765" y="1696720"/>
            <a:ext cx="5078095" cy="34963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571500" y="284410"/>
            <a:ext cx="11601450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chemeClr val="tx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Text Pre-processing</a:t>
            </a:r>
            <a:endParaRPr lang="en-US" sz="3900" b="0" i="0" u="none" strike="noStrike" cap="none">
              <a:solidFill>
                <a:schemeClr val="tx1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1469390"/>
            <a:ext cx="3832225" cy="3138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Regex Filtering:</a:t>
            </a: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Replaced tabs, stripped non-alphanumeric characters, and squashed multiple spaces.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Stop Words:</a:t>
            </a: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Removed structural noise (e.g., "the", "and") using NLTK corpora.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718050" y="4904105"/>
            <a:ext cx="4308475" cy="1473200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def</a:t>
            </a:r>
            <a:r>
              <a:rPr lang="en-US"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sz="1200" b="0">
                <a:solidFill>
                  <a:srgbClr val="D2A8FF"/>
                </a:solidFill>
                <a:latin typeface="Consolas" panose="020B0609020204030204"/>
                <a:ea typeface="Consolas" panose="020B0609020204030204"/>
              </a:rPr>
              <a:t>get_wordnet_pos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word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):</a:t>
            </a:r>
            <a:endParaRPr sz="1200" b="0">
              <a:solidFill>
                <a:srgbClr val="A5D6FF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tag</a:t>
            </a:r>
            <a:r>
              <a:rPr lang="en-US"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sz="1200" b="0">
                <a:solidFill>
                  <a:srgbClr val="D2A8FF"/>
                </a:solidFill>
                <a:latin typeface="Consolas" panose="020B0609020204030204"/>
                <a:ea typeface="Consolas" panose="020B0609020204030204"/>
              </a:rPr>
              <a:t>pos_tag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([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word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])[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][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][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].upper()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tag_dict</a:t>
            </a:r>
            <a:r>
              <a:rPr lang="en-US"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 {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"J"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: wordnet.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ADJ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            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"N"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: wordnet.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NOUN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            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"V"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: wordnet.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VERB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            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"R"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: wordnet.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ADV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return</a:t>
            </a:r>
            <a:r>
              <a:rPr lang="en-US"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tag_dict.get(tag, wordnet.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NOUN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)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718050" y="1621155"/>
            <a:ext cx="7153275" cy="2899410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200" b="0">
                <a:solidFill>
                  <a:srgbClr val="8B949E"/>
                </a:solidFill>
                <a:latin typeface="Consolas" panose="020B0609020204030204"/>
                <a:ea typeface="Consolas" panose="020B0609020204030204"/>
              </a:rPr>
              <a:t># 1. Convert to lowercase</a:t>
            </a:r>
            <a:endParaRPr sz="1200" b="0">
              <a:solidFill>
                <a:srgbClr val="8B949E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text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str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text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).</a:t>
            </a:r>
            <a:r>
              <a:rPr sz="1200" b="0">
                <a:solidFill>
                  <a:srgbClr val="D2A8FF"/>
                </a:solidFill>
                <a:latin typeface="Consolas" panose="020B0609020204030204"/>
                <a:ea typeface="Consolas" panose="020B0609020204030204"/>
              </a:rPr>
              <a:t>lower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()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200" b="0">
                <a:solidFill>
                  <a:srgbClr val="8B949E"/>
                </a:solidFill>
                <a:latin typeface="Consolas" panose="020B0609020204030204"/>
                <a:ea typeface="Consolas" panose="020B0609020204030204"/>
              </a:rPr>
              <a:t># 2. Replace tabs and breaklines with space</a:t>
            </a:r>
            <a:endParaRPr sz="1200" b="0">
              <a:solidFill>
                <a:srgbClr val="8B949E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text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re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sz="1200" b="0">
                <a:solidFill>
                  <a:srgbClr val="D2A8FF"/>
                </a:solidFill>
                <a:latin typeface="Consolas" panose="020B0609020204030204"/>
                <a:ea typeface="Consolas" panose="020B0609020204030204"/>
              </a:rPr>
              <a:t>sub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r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"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\t\n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"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" "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text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)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200" b="0">
                <a:solidFill>
                  <a:srgbClr val="8B949E"/>
                </a:solidFill>
                <a:latin typeface="Consolas" panose="020B0609020204030204"/>
                <a:ea typeface="Consolas" panose="020B0609020204030204"/>
              </a:rPr>
              <a:t># 3. Remove punctuation and non-alphanumeric characters</a:t>
            </a:r>
            <a:endParaRPr sz="1200" b="0">
              <a:solidFill>
                <a:srgbClr val="8B949E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text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re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sz="1200" b="0">
                <a:solidFill>
                  <a:srgbClr val="D2A8FF"/>
                </a:solidFill>
                <a:latin typeface="Consolas" panose="020B0609020204030204"/>
                <a:ea typeface="Consolas" panose="020B0609020204030204"/>
              </a:rPr>
              <a:t>sub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r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"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[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^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a-zA-Z0-9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\s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]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"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" "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text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)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200" b="0">
                <a:solidFill>
                  <a:srgbClr val="8B949E"/>
                </a:solidFill>
                <a:latin typeface="Consolas" panose="020B0609020204030204"/>
                <a:ea typeface="Consolas" panose="020B0609020204030204"/>
              </a:rPr>
              <a:t># 4. Remove numbers</a:t>
            </a:r>
            <a:endParaRPr sz="1200" b="0">
              <a:solidFill>
                <a:srgbClr val="8B949E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text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re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sz="1200" b="0">
                <a:solidFill>
                  <a:srgbClr val="D2A8FF"/>
                </a:solidFill>
                <a:latin typeface="Consolas" panose="020B0609020204030204"/>
                <a:ea typeface="Consolas" panose="020B0609020204030204"/>
              </a:rPr>
              <a:t>sub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r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'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\d+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'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' '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text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)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200" b="0">
                <a:solidFill>
                  <a:srgbClr val="8B949E"/>
                </a:solidFill>
                <a:latin typeface="Consolas" panose="020B0609020204030204"/>
                <a:ea typeface="Consolas" panose="020B0609020204030204"/>
              </a:rPr>
              <a:t># 5. Remove standalone single characters (e.g. 's' after removing apostrophe)</a:t>
            </a:r>
            <a:endParaRPr sz="1200" b="0">
              <a:solidFill>
                <a:srgbClr val="8B949E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text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re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sz="1200" b="0">
                <a:solidFill>
                  <a:srgbClr val="D2A8FF"/>
                </a:solidFill>
                <a:latin typeface="Consolas" panose="020B0609020204030204"/>
                <a:ea typeface="Consolas" panose="020B0609020204030204"/>
              </a:rPr>
              <a:t>sub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r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'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\s+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[a-zA-Z]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\s+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'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' '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text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)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text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re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sz="1200" b="0">
                <a:solidFill>
                  <a:srgbClr val="D2A8FF"/>
                </a:solidFill>
                <a:latin typeface="Consolas" panose="020B0609020204030204"/>
                <a:ea typeface="Consolas" panose="020B0609020204030204"/>
              </a:rPr>
              <a:t>sub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r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'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^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[a-zA-Z]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\s+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'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' '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text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)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200" b="0">
                <a:solidFill>
                  <a:srgbClr val="8B949E"/>
                </a:solidFill>
                <a:latin typeface="Consolas" panose="020B0609020204030204"/>
                <a:ea typeface="Consolas" panose="020B0609020204030204"/>
              </a:rPr>
              <a:t># 6. Substitute multiple spaces with a single space and strip edges</a:t>
            </a:r>
            <a:endParaRPr sz="1200" b="0">
              <a:solidFill>
                <a:srgbClr val="8B949E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text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re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sz="1200" b="0">
                <a:solidFill>
                  <a:srgbClr val="D2A8FF"/>
                </a:solidFill>
                <a:latin typeface="Consolas" panose="020B0609020204030204"/>
                <a:ea typeface="Consolas" panose="020B0609020204030204"/>
              </a:rPr>
              <a:t>sub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r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'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\s+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'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' '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text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).</a:t>
            </a:r>
            <a:r>
              <a:rPr sz="1200" b="0">
                <a:solidFill>
                  <a:srgbClr val="D2A8FF"/>
                </a:solidFill>
                <a:latin typeface="Consolas" panose="020B0609020204030204"/>
                <a:ea typeface="Consolas" panose="020B0609020204030204"/>
              </a:rPr>
              <a:t>strip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()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200" b="0">
                <a:solidFill>
                  <a:srgbClr val="8B949E"/>
                </a:solidFill>
                <a:latin typeface="Consolas" panose="020B0609020204030204"/>
                <a:ea typeface="Consolas" panose="020B0609020204030204"/>
              </a:rPr>
              <a:t># 7. Tokenize, remove stopwords, and Lemmatize</a:t>
            </a:r>
            <a:endParaRPr sz="1200" b="0">
              <a:solidFill>
                <a:srgbClr val="8B949E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words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text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sz="1200" b="0">
                <a:solidFill>
                  <a:srgbClr val="D2A8FF"/>
                </a:solidFill>
                <a:latin typeface="Consolas" panose="020B0609020204030204"/>
                <a:ea typeface="Consolas" panose="020B0609020204030204"/>
              </a:rPr>
              <a:t>split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()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5" name="Google Shape;112;p15"/>
          <p:cNvSpPr txBox="1"/>
          <p:nvPr/>
        </p:nvSpPr>
        <p:spPr>
          <a:xfrm>
            <a:off x="571500" y="4904105"/>
            <a:ext cx="3832225" cy="14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POS Tagging:</a:t>
            </a: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Extracted grammatical context to distinguish nouns from verbs for the lemmatizer.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animBg="1"/>
      <p:bldP spid="5" grpId="1"/>
      <p:bldP spid="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571500" y="284410"/>
            <a:ext cx="11601450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>
                <a:solidFill>
                  <a:schemeClr val="tx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Benchmarking Models</a:t>
            </a:r>
            <a:endParaRPr lang="en-US" sz="3900" b="0" i="0" u="none" strike="noStrike" cap="none">
              <a:solidFill>
                <a:schemeClr val="tx1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1469390"/>
            <a:ext cx="4664075" cy="467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The models rely exclusively on lexical features extracted from the text. They were evaluated on an 80/20 train-validation split using 5000 TF-IDF features (most significant terms):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Unigrams &amp; Bigrams:</a:t>
            </a: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Evaluate single words and two-word pairings (e.g., "election" vs. "election fraud").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TF-IDF Weights:</a:t>
            </a: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Words frequent in one headline but rare overall receive higher mathematical weights, filtering out common noise.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1" name="Pictur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5640" y="1869440"/>
            <a:ext cx="5598160" cy="32588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571500" y="284410"/>
            <a:ext cx="11601450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900" b="0" i="0" u="none" strike="noStrike" cap="none">
                <a:solidFill>
                  <a:schemeClr val="tx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Hyperparameter Tuning</a:t>
            </a:r>
            <a:endParaRPr lang="en-US" altLang="en-US" sz="3900" b="0" i="0" u="none" strike="noStrike" cap="none">
              <a:solidFill>
                <a:schemeClr val="tx1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1469390"/>
            <a:ext cx="5525135" cy="5278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Built a Scikit-Learn Pipeline combining the TF-IDF Vectorizer and the Classifier.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Used GridSearchCV with 3-fold cross-validation across 12 unique parameter combinations (total: 36 model fits).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Best Parameters Discovered:</a:t>
            </a:r>
            <a:endParaRPr lang="en-US" altLang="en-US" sz="1650" b="0" i="0" u="none" strike="noStrike" cap="none">
              <a:solidFill>
                <a:srgbClr val="0070C0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742950" marR="0" lvl="1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ngram_range:</a:t>
            </a: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(1, 3) (Using unigram, bigram and trigrams).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742950" marR="0" lvl="1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max_df:</a:t>
            </a: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0.75 (Ignoring words that appear in over 75% of headlines).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742950" marR="0" lvl="1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C:</a:t>
            </a: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10 (lower regularization, weaker penalty on coefficients --&gt; less constrained on how large its weights can be).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245860" y="2019300"/>
            <a:ext cx="5742940" cy="3299460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def</a:t>
            </a:r>
            <a:r>
              <a:rPr lang="en-US"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sz="1200" b="0">
                <a:solidFill>
                  <a:srgbClr val="D2A8FF"/>
                </a:solidFill>
                <a:latin typeface="Consolas" panose="020B0609020204030204"/>
                <a:ea typeface="Consolas" panose="020B0609020204030204"/>
              </a:rPr>
              <a:t>tune_best_model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X_train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y_train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):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pipeline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Pipeline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([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    (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'tfidf'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TfidfVectorizer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()),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    (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'clf'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LogisticRegression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max_iter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1000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))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])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param_grid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 {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'tfidf__max_df'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: [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0.75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1.0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],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'tfidf__ngram_range'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: [(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lang="en-US"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2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), (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lang="en-US"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3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)],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sz="12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'clf__C'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: [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0.1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10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]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}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grid_search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GridSearchCV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(pipeline, param_grid, 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cv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3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n_jobs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=-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verbose</a:t>
            </a:r>
            <a:r>
              <a:rPr sz="1200" b="0">
                <a:solidFill>
                  <a:srgbClr val="FF7B72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sz="1200" b="0">
                <a:solidFill>
                  <a:srgbClr val="79C0FF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)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    grid_search.</a:t>
            </a:r>
            <a:r>
              <a:rPr sz="1200" b="0">
                <a:solidFill>
                  <a:srgbClr val="D2A8FF"/>
                </a:solidFill>
                <a:latin typeface="Consolas" panose="020B0609020204030204"/>
                <a:ea typeface="Consolas" panose="020B0609020204030204"/>
              </a:rPr>
              <a:t>fit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X_train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, </a:t>
            </a:r>
            <a:r>
              <a:rPr sz="12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y_train</a:t>
            </a:r>
            <a:r>
              <a:rPr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)</a:t>
            </a:r>
            <a:endParaRPr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  <a:p>
            <a:pPr indent="457200">
              <a:lnSpc>
                <a:spcPct val="100000"/>
              </a:lnSpc>
            </a:pPr>
            <a:r>
              <a:rPr lang="en-US" altLang="en-US" sz="1200" b="0">
                <a:solidFill>
                  <a:srgbClr val="E6EDF3"/>
                </a:solidFill>
                <a:latin typeface="Consolas" panose="020B0609020204030204"/>
                <a:ea typeface="Consolas" panose="020B0609020204030204"/>
              </a:rPr>
              <a:t>return grid_search.best_estimator_</a:t>
            </a:r>
            <a:endParaRPr lang="en-US" altLang="en-US" sz="1200" b="0">
              <a:solidFill>
                <a:srgbClr val="E6EDF3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571500" y="284410"/>
            <a:ext cx="11601450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900" b="0" i="0" u="none" strike="noStrike" cap="none">
                <a:solidFill>
                  <a:schemeClr val="tx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Model Evaluation &amp; Results</a:t>
            </a:r>
            <a:endParaRPr lang="en-US" altLang="en-US" sz="3900" b="0" i="0" u="none" strike="noStrike" cap="none">
              <a:solidFill>
                <a:schemeClr val="tx1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1469390"/>
            <a:ext cx="4664075" cy="409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The tuned model achieved exceptional, balanced results across both classes.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742950" marR="0" lvl="1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Overall Accuracy:</a:t>
            </a: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~92.5%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742950" marR="0" lvl="1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Precision:</a:t>
            </a: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~91.6%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742950" marR="0" lvl="1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Recall:</a:t>
            </a: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~93.7%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742950" marR="0" lvl="1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F1-Score:</a:t>
            </a: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~92.7%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The model perfectly balances catching fake news without accidentally penalizing real news.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1" name="Picture 0" descr="confusion_matri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2780" y="1619885"/>
            <a:ext cx="5347335" cy="3820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571500" y="284410"/>
            <a:ext cx="11601450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900" b="0" i="0" u="none" strike="noStrike" cap="none">
                <a:solidFill>
                  <a:schemeClr val="tx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Challenges &amp; Solutions</a:t>
            </a:r>
            <a:endParaRPr lang="en-US" altLang="en-US" sz="3900" b="0" i="0" u="none" strike="noStrike" cap="none">
              <a:solidFill>
                <a:schemeClr val="tx1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1469390"/>
            <a:ext cx="10006965" cy="343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Challenge 1:</a:t>
            </a: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Basic lemmatization treated all words as nouns, losing context.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742950" marR="0" lvl="1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Solution:</a:t>
            </a: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Integrated NLTK's pos_tag so the lemmatizer dynamically adapts to adjectives, verbs, and adverbs.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Challenge 2:</a:t>
            </a: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Standard "Bag of Words" vectorization loses semantic meaning by treating words in pure isolation (e.g., splitting "not" and "true").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742950" marR="0" lvl="1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Solution:</a:t>
            </a: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Implemented and expanded the TF-IDF ngram_range to (1, 3) to capture trigrams, allowing the model to learn from crucial two-word phrases.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571500" y="284410"/>
            <a:ext cx="11601450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900" b="0" i="0" u="none" strike="noStrike" cap="none">
                <a:solidFill>
                  <a:schemeClr val="tx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Final Output &amp; Delivery</a:t>
            </a:r>
            <a:endParaRPr lang="en-US" altLang="en-US" sz="3900" b="0" i="0" u="none" strike="noStrike" cap="none">
              <a:solidFill>
                <a:schemeClr val="tx1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1469390"/>
            <a:ext cx="10691495" cy="202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Retrained the finalized, tuned pipeline on 100% of the training dataset to maximize vocabulary exposure.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Processed the testing_data.csv through the exact same NLP cleaning pipeline.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Successfully predicted the labels and exported predicted_testing_data.csv while preserving the original tab-separated format without headers.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0310" y="3623310"/>
            <a:ext cx="7372350" cy="22764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571500" y="284410"/>
            <a:ext cx="11601450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900" b="0" i="0" u="none" strike="noStrike" cap="none">
                <a:solidFill>
                  <a:schemeClr val="tx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Conclusion</a:t>
            </a:r>
            <a:endParaRPr lang="en-US" altLang="en-US" sz="3900" b="0" i="0" u="none" strike="noStrike" cap="none">
              <a:solidFill>
                <a:schemeClr val="tx1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1469390"/>
            <a:ext cx="10006965" cy="290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Preprocessing Matters:</a:t>
            </a: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NLP preprocessing (like regex cleaning) has an important, measurable impact on model accuracy.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Efficiency of Baselines:</a:t>
            </a: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Linear models combined with TF-IDF remain highly powerful and fast for semantic text classification.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  <a:p>
            <a:pPr marL="285750" marR="0" lvl="0" indent="-28575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650" b="0" i="0" u="none" strike="noStrike" cap="none">
                <a:solidFill>
                  <a:srgbClr val="0070C0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Strategic Progression:</a:t>
            </a:r>
            <a:r>
              <a:rPr lang="en-US" altLang="en-US" sz="1650" b="0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 Establishing strong, lightweight baseline models is a crucial first step before considering more computationally expensive approaches.</a:t>
            </a:r>
            <a:endParaRPr lang="en-US" altLang="en-US" sz="1650" b="0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/>
          <p:nvPr/>
        </p:nvSpPr>
        <p:spPr>
          <a:xfrm>
            <a:off x="295275" y="3034030"/>
            <a:ext cx="11601450" cy="789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chemeClr val="tx1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Thank </a:t>
            </a:r>
            <a:r>
              <a:rPr lang="en-US" sz="4800" b="1" i="0" u="none" strike="noStrike" cap="none">
                <a:solidFill>
                  <a:schemeClr val="tx1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You !</a:t>
            </a:r>
            <a:endParaRPr lang="en-US" sz="4800" b="1" i="0" u="none" strike="noStrike" cap="none">
              <a:solidFill>
                <a:schemeClr val="tx1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5324</Words>
  <Application>WPS Presentation</Application>
  <PresentationFormat>Widescreen</PresentationFormat>
  <Paragraphs>152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Wingdings</vt:lpstr>
      <vt:lpstr>Urbanist</vt:lpstr>
      <vt:lpstr>Urbanist SemiBold</vt:lpstr>
      <vt:lpstr>Yu Gothic UI Semibold</vt:lpstr>
      <vt:lpstr>Consolas</vt:lpstr>
      <vt:lpstr>Microsoft YaHei</vt:lpstr>
      <vt:lpstr>Arial Unicode MS</vt:lpstr>
      <vt:lpstr>Calibri</vt:lpstr>
      <vt:lpstr>Canva Sans Bold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/>
  <cp:lastModifiedBy>Hello World</cp:lastModifiedBy>
  <cp:revision>321</cp:revision>
  <dcterms:created xsi:type="dcterms:W3CDTF">2026-07-09T09:40:00Z</dcterms:created>
  <dcterms:modified xsi:type="dcterms:W3CDTF">2026-07-28T18:54:30Z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E91EFF80F6454AA490D8DEA9B3765BD9_13</vt:lpwstr>
  </property>
</Properties>
</file>